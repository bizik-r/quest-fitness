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Бриф пользователя и sources/Ребрендинг КФ.pptx, слайды 1–3. Презентация содержит референсы, а не утверждённую айдентику.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Бриф пользователя и sources/Ребрендинг КФ.pptx, слайды 1–3. Презентация содержит референсы, а не утверждённую айдентику.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Бриф пользователя и sources/Ребрендинг КФ.pptx, слайды 1–3. Презентация содержит референсы, а не утверждённую айдентику.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Бриф пользователя и sources/Ребрендинг КФ.pptx, слайды 1–3. Презентация содержит референсы, а не утверждённую айдентику. Выводы на слайде являются интерпретацией референсов.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Бриф пользователя и sources/Ребрендинг КФ.pptx, слайды 1–3. Презентация содержит референсы, а не утверждённую айдентику. Авторские проектные рекомендации.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Оригинальная концепция. Визуал создан встроенным ImageGen. Эскиз логотипа и носителей, не производственный оригинал.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Бриф пользователя и sources/Ребрендинг КФ.pptx, слайды 1–3. Презентация содержит референсы, а не утверждённую айдентику. Оригинальная концепция и проектные рекомендации. Шрифт: https://fonts.google.com/specimen/Rubik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Оригинальная концепция. Визуал создан встроенным ImageGen. Помещение и люди вымышленные.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Бриф пользователя и sources/Ребрендинг КФ.pptx, слайды 1–3. Презентация содержит референсы, а не утверждённую айдентику. Оригинальная концепция. Рекомендации по шрифтам: https://fonts.google.com/specimen/Unbounded и https://fonts.google.com/specimen/Rubik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Оригинальная концепция. Визуал создан встроенным ImageGen. Эскиз, не финальная система.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Бриф пользователя и sources/Ребрендинг КФ.pptx, слайды 1–3. Презентация содержит референсы, а не утверждённую айдентику. Оригинальная концепция. Предлагаемые шрифты: https://fonts.google.com/noto/specimen/Noto+Serif и https://fonts.google.com/specimen/Rubik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Качественная авторская оценка соответствия брифу. Оценки не являются результатом исследования аудитории.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Авторская рекомендация на основе брифа и референсов.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Оригинальная визуализация применения айдентики, создана ImageGen. Не фотография существующей студии.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Авторские примеры коммуникации. Это предложения, не описание текущих услуг или расписания.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Предлагаемые правила для разработки мини-гайда. Пропорции и размеры ниже являются стартовыми ориентирами, а не результатом теста.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Предложения, требующие фото, размеров помещения и согласования бюджета. Не проект интерьера.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Рекомендуемый состав работ. Каналы и тиражи уточняются после аудита текущих ресурсов.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C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4C02222-E2D1-4B0A-9224-40DC7823E73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BFAFB1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BFAFB1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D64578-634A-4EE7-B1B9-5C5815CC54F4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1076325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700" b="1">
                <a:solidFill>
                  <a:srgbClr val="F6EBDD"/>
                </a:solidFill>
                <a:latin typeface="Rubik"/>
                <a:ea typeface="Rubik"/>
                <a:cs typeface="Rubik"/>
              </a:defRPr>
            </a:pPr>
            <a:r>
              <a:rPr sz="8700" b="1">
                <a:solidFill>
                  <a:srgbClr val="F6EBDD"/>
                </a:solidFill>
                <a:latin typeface="Rubik"/>
                <a:ea typeface="Rubik"/>
                <a:cs typeface="Rubik"/>
              </a:rPr>
              <a:t>QUEST</a:t>
            </a:r>
          </a:p>
          <a:p>
            <a:pPr>
              <a:defRPr sz="8700" b="1">
                <a:solidFill>
                  <a:srgbClr val="F6EBDD"/>
                </a:solidFill>
                <a:latin typeface="Rubik"/>
                <a:ea typeface="Rubik"/>
                <a:cs typeface="Rubik"/>
              </a:defRPr>
            </a:pPr>
            <a:r>
              <a:rPr sz="8700" b="1">
                <a:solidFill>
                  <a:srgbClr val="F6EBDD"/>
                </a:solidFill>
                <a:latin typeface="Rubik"/>
                <a:ea typeface="Rubik"/>
                <a:cs typeface="Rubik"/>
              </a:rPr>
              <a:t>FITNESS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6EDF0B6-69C4-4020-A020-1B0EEBD7F97F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10763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6EBDD"/>
                </a:solidFill>
                <a:latin typeface="Rubik"/>
                <a:ea typeface="Rubik"/>
                <a:cs typeface="Rubik"/>
              </a:defRPr>
            </a:pPr>
            <a:r>
              <a:rPr sz="2400" b="0">
                <a:solidFill>
                  <a:srgbClr val="F6EBDD"/>
                </a:solidFill>
                <a:latin typeface="Rubik"/>
                <a:ea typeface="Rubik"/>
                <a:cs typeface="Rubik"/>
              </a:rPr>
              <a:t>Ребрендинг</a:t>
            </a:r>
          </a:p>
          <a:p>
            <a:pPr>
              <a:defRPr sz="2400" b="0">
                <a:solidFill>
                  <a:srgbClr val="F6EBDD"/>
                </a:solidFill>
                <a:latin typeface="Rubik"/>
                <a:ea typeface="Rubik"/>
                <a:cs typeface="Rubik"/>
              </a:defRPr>
            </a:pPr>
            <a:r>
              <a:rPr sz="2400" b="0">
                <a:solidFill>
                  <a:srgbClr val="F6EBDD"/>
                </a:solidFill>
                <a:latin typeface="Rubik"/>
                <a:ea typeface="Rubik"/>
                <a:cs typeface="Rubik"/>
              </a:rPr>
              <a:t>Исследование и три визуальных направления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9C6CC92-2EFA-450E-BD0A-27D3E840A57B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096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BFAFB1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BFAFB1"/>
                </a:solidFill>
                <a:latin typeface="Rubik"/>
                <a:ea typeface="Rubik"/>
                <a:cs typeface="Rubik"/>
              </a:rPr>
              <a:t>Концепции для обсуждения · сентябрь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164942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8009D3-4D3A-48BA-8BC2-DB72A4FB5B3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Задача ребрендинга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EA1A77-6084-4FDA-9BE2-FC8FE62A57DD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D880E12-AB1B-4E7F-AFB1-FCD76FB6A305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295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92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Тренажёрный зал, где в паузах</a:t>
            </a:r>
          </a:p>
          <a:p>
            <a:pPr>
              <a:defRPr sz="292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92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между подходами продолжается приключение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8294389-66F5-427E-A654-0CFB1EFFC990}"/>
              </a:ext>
            </a:extLst>
          </p:cNvPr>
          <p:cNvSpPr>
            <a:spLocks noGrp="1"/>
          </p:cNvSpPr>
          <p:nvPr/>
        </p:nvSpPr>
        <p:spPr>
          <a:xfrm>
            <a:off x="533400" y="31908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Что требуется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1C6F91-0561-44DF-84FA-192F82F87D85}"/>
              </a:ext>
            </a:extLst>
          </p:cNvPr>
          <p:cNvSpPr>
            <a:spLocks noGrp="1"/>
          </p:cNvSpPr>
          <p:nvPr/>
        </p:nvSpPr>
        <p:spPr>
          <a:xfrm>
            <a:off x="533400" y="3876675"/>
            <a:ext cx="5048250" cy="2314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Узнаваемый логотип и единый стиль для всех точек контакта.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Визуально объяснить сочетание силовых тренировок и ролевой игры.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DF08FA0-6F1E-4635-BEBA-537E0F0C0E54}"/>
              </a:ext>
            </a:extLst>
          </p:cNvPr>
          <p:cNvSpPr>
            <a:spLocks noGrp="1"/>
          </p:cNvSpPr>
          <p:nvPr/>
        </p:nvSpPr>
        <p:spPr>
          <a:xfrm>
            <a:off x="6429375" y="31908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Что предлагаем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6C81689-F1FF-4391-929E-3DE15DBA60C1}"/>
              </a:ext>
            </a:extLst>
          </p:cNvPr>
          <p:cNvSpPr>
            <a:spLocks noGrp="1"/>
          </p:cNvSpPr>
          <p:nvPr/>
        </p:nvSpPr>
        <p:spPr>
          <a:xfrm>
            <a:off x="6429375" y="3876675"/>
            <a:ext cx="5048250" cy="2314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Три самостоятельных направления с палитрой, типографикой и носителями.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После выбора: доработка знака и прикладная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12519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683634B-0625-4869-94C9-81CC13B6147A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Что объединяет референсы клиента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776ED36-406C-4155-B488-75D0B7E8DBA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329" y="1381125"/>
            <a:ext cx="4886142" cy="261937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62700" y="1381125"/>
            <a:ext cx="2362200" cy="2286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72202" y="1381125"/>
            <a:ext cx="1705797" cy="2286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6961D4-70A3-4EFC-9F5F-A55A10AD5C56}"/>
              </a:ext>
            </a:extLst>
          </p:cNvPr>
          <p:cNvSpPr>
            <a:spLocks noGrp="1"/>
          </p:cNvSpPr>
          <p:nvPr/>
        </p:nvSpPr>
        <p:spPr>
          <a:xfrm>
            <a:off x="533400" y="421005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Система Hoshimi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61A8F01-1741-4553-AFE0-30D20453A3B4}"/>
              </a:ext>
            </a:extLst>
          </p:cNvPr>
          <p:cNvSpPr>
            <a:spLocks noGrp="1"/>
          </p:cNvSpPr>
          <p:nvPr/>
        </p:nvSpPr>
        <p:spPr>
          <a:xfrm>
            <a:off x="533400" y="4762500"/>
            <a:ext cx="5191125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950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Персонаж, крупное название и повторяющиеся мотивы связывают разные носители.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DB4E282-AA08-44BA-821E-EBF501A7D756}"/>
              </a:ext>
            </a:extLst>
          </p:cNvPr>
          <p:cNvSpPr>
            <a:spLocks noGrp="1"/>
          </p:cNvSpPr>
          <p:nvPr/>
        </p:nvSpPr>
        <p:spPr>
          <a:xfrm>
            <a:off x="6305550" y="421005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Знак с двойным смыслом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BE9F2E5-2C31-496B-A91F-A084FEF3016E}"/>
              </a:ext>
            </a:extLst>
          </p:cNvPr>
          <p:cNvSpPr>
            <a:spLocks noGrp="1"/>
          </p:cNvSpPr>
          <p:nvPr/>
        </p:nvSpPr>
        <p:spPr>
          <a:xfrm>
            <a:off x="6305550" y="4762500"/>
            <a:ext cx="52387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950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Образ силы встроен в силуэт или буквы. Это полезнее буквальной суммы «гантель + дракон».</a:t>
            </a:r>
          </a:p>
        </p:txBody>
      </p:sp>
    </p:spTree>
    <p:extLst>
      <p:ext uri="{BB962C8B-B14F-4D97-AF65-F5344CB8AC3E}">
        <p14:creationId xmlns:p14="http://schemas.microsoft.com/office/powerpoint/2010/main" val="1419009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AFB2A86-77DA-4D05-85EA-1DE2683959F4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Цвет и атмосфера пока открыты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4D22D6-30F4-4D0A-AFBD-795B33416BD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1571768"/>
            <a:ext cx="1676400" cy="171421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724150" y="1575323"/>
            <a:ext cx="1676400" cy="170710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DA93A26-ADBD-466F-B5DA-6CB97A7EF3AB}"/>
              </a:ext>
            </a:extLst>
          </p:cNvPr>
          <p:cNvSpPr>
            <a:spLocks noGrp="1"/>
          </p:cNvSpPr>
          <p:nvPr/>
        </p:nvSpPr>
        <p:spPr>
          <a:xfrm>
            <a:off x="533400" y="383857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Общая опора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A503159-5CFE-42C1-92FD-AD5D14631E35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40005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950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Красный, тёмная база, тёплый светлый оттенок.</a:t>
            </a:r>
          </a:p>
          <a:p>
            <a:endParaRPr sz="1950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1950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950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Вопрос выбора: сколько мрачного фэнтези нужно в повседневном общении?</a:t>
            </a:r>
          </a:p>
        </p:txBody>
      </p:sp>
    </p:spTree>
    <p:extLst>
      <p:ext uri="{BB962C8B-B14F-4D97-AF65-F5344CB8AC3E}">
        <p14:creationId xmlns:p14="http://schemas.microsoft.com/office/powerpoint/2010/main" val="21026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2889C1B-3B64-4370-B814-6D07210E804B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Принципы будущего стиля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5017288-6815-4A48-A7FF-F942F55B5641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07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79F2558-9BD1-4A0C-AEEC-6656C337D9DA}"/>
              </a:ext>
            </a:extLst>
          </p:cNvPr>
          <p:cNvSpPr>
            <a:spLocks noGrp="1"/>
          </p:cNvSpPr>
          <p:nvPr/>
        </p:nvSpPr>
        <p:spPr>
          <a:xfrm>
            <a:off x="533400" y="147637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5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44F5C4-F4B1-4482-8B49-8F034FEB7808}"/>
              </a:ext>
            </a:extLst>
          </p:cNvPr>
          <p:cNvSpPr>
            <a:spLocks noGrp="1"/>
          </p:cNvSpPr>
          <p:nvPr/>
        </p:nvSpPr>
        <p:spPr>
          <a:xfrm>
            <a:off x="1466850" y="1476375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Фитнес считывается сразу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7C9BA8-FE68-4571-8234-504CF792D24D}"/>
              </a:ext>
            </a:extLst>
          </p:cNvPr>
          <p:cNvSpPr>
            <a:spLocks noGrp="1"/>
          </p:cNvSpPr>
          <p:nvPr/>
        </p:nvSpPr>
        <p:spPr>
          <a:xfrm>
            <a:off x="1466850" y="1933575"/>
            <a:ext cx="99060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В названии и первом экране остаются зал, тренер и реальные упражнения.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F4E9EBE-84E7-44D5-8275-E18625663A46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5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7F6FF3F-EB9B-461A-BEA4-570C955D4636}"/>
              </a:ext>
            </a:extLst>
          </p:cNvPr>
          <p:cNvSpPr>
            <a:spLocks noGrp="1"/>
          </p:cNvSpPr>
          <p:nvPr/>
        </p:nvSpPr>
        <p:spPr>
          <a:xfrm>
            <a:off x="1466850" y="262890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Игра объясняется действием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E086976-4C4F-45D4-ACE5-6C8921075CFF}"/>
              </a:ext>
            </a:extLst>
          </p:cNvPr>
          <p:cNvSpPr>
            <a:spLocks noGrp="1"/>
          </p:cNvSpPr>
          <p:nvPr/>
        </p:nvSpPr>
        <p:spPr>
          <a:xfrm>
            <a:off x="1466850" y="3086100"/>
            <a:ext cx="99060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Кубик, лист персонажа и сцена отдыха показывают механику лучше абстрактного портала.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5C5BB1-3C7E-4349-B1B5-2CB01FCB08DE}"/>
              </a:ext>
            </a:extLst>
          </p:cNvPr>
          <p:cNvSpPr>
            <a:spLocks noGrp="1"/>
          </p:cNvSpPr>
          <p:nvPr/>
        </p:nvSpPr>
        <p:spPr>
          <a:xfrm>
            <a:off x="533400" y="37814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5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038A132-9E18-4B45-A33D-28AAA960E2E5}"/>
              </a:ext>
            </a:extLst>
          </p:cNvPr>
          <p:cNvSpPr>
            <a:spLocks noGrp="1"/>
          </p:cNvSpPr>
          <p:nvPr/>
        </p:nvSpPr>
        <p:spPr>
          <a:xfrm>
            <a:off x="1466850" y="3781425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Один главный знак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CE18837-5141-42FF-86E5-7AF25796808C}"/>
              </a:ext>
            </a:extLst>
          </p:cNvPr>
          <p:cNvSpPr>
            <a:spLocks noGrp="1"/>
          </p:cNvSpPr>
          <p:nvPr/>
        </p:nvSpPr>
        <p:spPr>
          <a:xfrm>
            <a:off x="1466850" y="4238625"/>
            <a:ext cx="99060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Маскот и подробные иллюстрации работают вторым слоем, отдельно от малого логотипа.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3FE1D87-05C5-432B-9B3D-F6823D64843C}"/>
              </a:ext>
            </a:extLst>
          </p:cNvPr>
          <p:cNvSpPr>
            <a:spLocks noGrp="1"/>
          </p:cNvSpPr>
          <p:nvPr/>
        </p:nvSpPr>
        <p:spPr>
          <a:xfrm>
            <a:off x="533400" y="493395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5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9014947-2F49-4B55-95C4-6545A9AF32C3}"/>
              </a:ext>
            </a:extLst>
          </p:cNvPr>
          <p:cNvSpPr>
            <a:spLocks noGrp="1"/>
          </p:cNvSpPr>
          <p:nvPr/>
        </p:nvSpPr>
        <p:spPr>
          <a:xfrm>
            <a:off x="1466850" y="493395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Цвет имеет роль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F5C247-1583-4539-B712-07D70FF8FEF0}"/>
              </a:ext>
            </a:extLst>
          </p:cNvPr>
          <p:cNvSpPr>
            <a:spLocks noGrp="1"/>
          </p:cNvSpPr>
          <p:nvPr/>
        </p:nvSpPr>
        <p:spPr>
          <a:xfrm>
            <a:off x="1466850" y="5391150"/>
            <a:ext cx="99060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Тёмный для текста, светлый для воздуха, красный для акцента.</a:t>
            </a:r>
          </a:p>
        </p:txBody>
      </p:sp>
    </p:spTree>
    <p:extLst>
      <p:ext uri="{BB962C8B-B14F-4D97-AF65-F5344CB8AC3E}">
        <p14:creationId xmlns:p14="http://schemas.microsoft.com/office/powerpoint/2010/main" val="57174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7F5918-5086-4ADF-A772-FE9E7E305CB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01 / Гильдия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11035F-398A-4D63-94C2-92DE2995B29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08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37984" y="1295400"/>
            <a:ext cx="8716033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43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8CADF8-C2E0-458F-B677-01D21BD7E5F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Гильдия: сила и свой круг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5DEAC44-05CF-488F-912A-76F470B58FD4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09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21E4E0A-1517-4871-ACF7-F2E3DE903F6C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Логотип и графика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5607EA0-203F-475E-A9E5-78CB59110E0E}"/>
              </a:ext>
            </a:extLst>
          </p:cNvPr>
          <p:cNvSpPr>
            <a:spLocks noGrp="1"/>
          </p:cNvSpPr>
          <p:nvPr/>
        </p:nvSpPr>
        <p:spPr>
          <a:xfrm>
            <a:off x="533400" y="2066925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Гиря с драконом в просвете связывает тренировку и фэнтези.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Маскот для мерча и историй. Небольшой набор символов для паттерна.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F2856CC-59B8-44B1-A0FC-9DC74DFC939F}"/>
              </a:ext>
            </a:extLst>
          </p:cNvPr>
          <p:cNvSpPr>
            <a:spLocks noGrp="1"/>
          </p:cNvSpPr>
          <p:nvPr/>
        </p:nvSpPr>
        <p:spPr>
          <a:xfrm>
            <a:off x="6429375" y="13811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Типографика и применение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69B1C60-5EE3-4525-9876-571C02748ADA}"/>
              </a:ext>
            </a:extLst>
          </p:cNvPr>
          <p:cNvSpPr>
            <a:spLocks noGrp="1"/>
          </p:cNvSpPr>
          <p:nvPr/>
        </p:nvSpPr>
        <p:spPr>
          <a:xfrm>
            <a:off x="6429375" y="2066925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Rubik Bold для заголовков, Rubik Regular для текста. Леттеринг логотипа дорабатывается отдельно.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Тон дружелюбный. Реальные люди в кадре, спокойный свет.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33400" y="4772025"/>
          <a:ext cx="11125200" cy="723900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Уголь  #241C20</a:t>
                      </a:r>
                    </a:p>
                  </a:txBody>
                  <a:tcPr>
                    <a:solidFill>
                      <a:srgbClr val="2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Крем  #F6EBDD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Красный  #C33F46</a:t>
                      </a:r>
                    </a:p>
                  </a:txBody>
                  <a:tcPr>
                    <a:solidFill>
                      <a:srgbClr val="C33F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Абрикос  #EFB68C</a:t>
                      </a:r>
                    </a:p>
                  </a:txBody>
                  <a:tcPr>
                    <a:solidFill>
                      <a:srgbClr val="EFB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FCBEDC-F741-4EA3-B8B8-A4EEFF0BE238}"/>
              </a:ext>
            </a:extLst>
          </p:cNvPr>
          <p:cNvSpPr>
            <a:spLocks noGrp="1"/>
          </p:cNvSpPr>
          <p:nvPr/>
        </p:nvSpPr>
        <p:spPr>
          <a:xfrm>
            <a:off x="533400" y="57816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725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Доработка: упростить зубцы дракона и проверить узнаваемость знака в 24–32 px.</a:t>
            </a:r>
          </a:p>
        </p:txBody>
      </p:sp>
    </p:spTree>
    <p:extLst>
      <p:ext uri="{BB962C8B-B14F-4D97-AF65-F5344CB8AC3E}">
        <p14:creationId xmlns:p14="http://schemas.microsoft.com/office/powerpoint/2010/main" val="1047469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C15E04F-3B90-460E-845A-B59AB5D26E34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02 / Портал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77856F-F67E-47D0-AAFF-18F478FBD9B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10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37984" y="1295400"/>
            <a:ext cx="8716033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2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A742EE-BE02-42F2-818E-DC01A6FEBED2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Портал: лаконичный спортивный бренд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0F868F2-A67B-40ED-B3FE-D3AE6C916A2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B82741-FEFC-467F-B7C8-8F8B7D9363DC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Логотип и графика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A7C8C3-9F4A-4646-9A69-8B3C63B07804}"/>
              </a:ext>
            </a:extLst>
          </p:cNvPr>
          <p:cNvSpPr>
            <a:spLocks noGrp="1"/>
          </p:cNvSpPr>
          <p:nvPr/>
        </p:nvSpPr>
        <p:spPr>
          <a:xfrm>
            <a:off x="533400" y="2066925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Буква Q напоминает диск штанги. Разрез задаёт направление движения.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Круглые кадрирования, крупные номера глав и минимум декоративных деталей.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29E05C6-162A-4F01-8017-FF46F7202416}"/>
              </a:ext>
            </a:extLst>
          </p:cNvPr>
          <p:cNvSpPr>
            <a:spLocks noGrp="1"/>
          </p:cNvSpPr>
          <p:nvPr/>
        </p:nvSpPr>
        <p:spPr>
          <a:xfrm>
            <a:off x="6429375" y="13811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Типографика и применение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E5E7B4-70D0-4AE9-AE53-B0785AD18B71}"/>
              </a:ext>
            </a:extLst>
          </p:cNvPr>
          <p:cNvSpPr>
            <a:spLocks noGrp="1"/>
          </p:cNvSpPr>
          <p:nvPr/>
        </p:nvSpPr>
        <p:spPr>
          <a:xfrm>
            <a:off x="6429375" y="2066925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Unbounded Bold для коротких заголовков, Rubik Regular для текста.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Крупные фото тренировок. Игровой формат объясняем подписью и предметами в кадре.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33400" y="4772025"/>
          <a:ext cx="11125200" cy="723900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Слива  #29132D</a:t>
                      </a:r>
                    </a:p>
                  </a:txBody>
                  <a:tcPr>
                    <a:solidFill>
                      <a:srgbClr val="291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Молочный  #FFF5EC</a:t>
                      </a:r>
                    </a:p>
                  </a:txBody>
                  <a:tcPr>
                    <a:solidFill>
                      <a:srgbClr val="FF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Киноварь  #EF4438</a:t>
                      </a:r>
                    </a:p>
                  </a:txBody>
                  <a:tcPr>
                    <a:solidFill>
                      <a:srgbClr val="EF4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Персик  #FFD9C1</a:t>
                      </a:r>
                    </a:p>
                  </a:txBody>
                  <a:tcPr>
                    <a:solidFill>
                      <a:srgbClr val="FFD9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30F649-ECDE-4175-A47B-CEAD3AE293E1}"/>
              </a:ext>
            </a:extLst>
          </p:cNvPr>
          <p:cNvSpPr>
            <a:spLocks noGrp="1"/>
          </p:cNvSpPr>
          <p:nvPr/>
        </p:nvSpPr>
        <p:spPr>
          <a:xfrm>
            <a:off x="533400" y="57816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725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Доработка: придать Q более собственный рисунок. Сейчас знак слишком универсален.</a:t>
            </a:r>
          </a:p>
        </p:txBody>
      </p:sp>
    </p:spTree>
    <p:extLst>
      <p:ext uri="{BB962C8B-B14F-4D97-AF65-F5344CB8AC3E}">
        <p14:creationId xmlns:p14="http://schemas.microsoft.com/office/powerpoint/2010/main" val="140567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A88C41-5730-4D03-9604-65FD2E67230F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03 / Бросок на силу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7950424-8634-433F-9A04-C5911A651BC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12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37984" y="1295400"/>
            <a:ext cx="8716033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54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E4A7D8-4DFD-4051-A4D1-CC3F8973FD9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Бросок на силу: клуб настольных героев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A23AF7-072A-4E3F-BCC5-3B808F346664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C5ECB10-3449-4A2D-A403-EED952AF05EF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Логотип и графика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8C9B79-A66E-480D-A29B-B9C57FFA7870}"/>
              </a:ext>
            </a:extLst>
          </p:cNvPr>
          <p:cNvSpPr>
            <a:spLocks noGrp="1"/>
          </p:cNvSpPr>
          <p:nvPr/>
        </p:nvSpPr>
        <p:spPr>
          <a:xfrm>
            <a:off x="533400" y="2066925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Игральная кость и гриф прямо называют обе стороны продукта. Q связывает знак с именем.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Гравюрные иллюстрации, бумага, клубный дневник тренировок.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60CA5A2-30A0-4122-88E5-244B92DB1ACA}"/>
              </a:ext>
            </a:extLst>
          </p:cNvPr>
          <p:cNvSpPr>
            <a:spLocks noGrp="1"/>
          </p:cNvSpPr>
          <p:nvPr/>
        </p:nvSpPr>
        <p:spPr>
          <a:xfrm>
            <a:off x="6429375" y="13811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Типографика и применение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A944617-B209-49E2-8714-5770D5F5F83F}"/>
              </a:ext>
            </a:extLst>
          </p:cNvPr>
          <p:cNvSpPr>
            <a:spLocks noGrp="1"/>
          </p:cNvSpPr>
          <p:nvPr/>
        </p:nvSpPr>
        <p:spPr>
          <a:xfrm>
            <a:off x="6429375" y="2066925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Noto Serif Bold для заголовков, Rubik Regular для инструкций.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Особенно подходит для печати, мерча, афиш игровых событий и сертификатов.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533400" y="4772025"/>
          <a:ext cx="11125200" cy="723900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Чернильный  #211421</a:t>
                      </a:r>
                    </a:p>
                  </a:txBody>
                  <a:tcPr>
                    <a:solidFill>
                      <a:srgbClr val="21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Бумага  #F5E9D8</a:t>
                      </a:r>
                    </a:p>
                  </a:txBody>
                  <a:tcPr>
                    <a:solidFill>
                      <a:srgbClr val="F5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Бордовый  #961D32</a:t>
                      </a:r>
                    </a:p>
                  </a:txBody>
                  <a:tcPr>
                    <a:solidFill>
                      <a:srgbClr val="961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Лосось  #DEA18F</a:t>
                      </a:r>
                    </a:p>
                  </a:txBody>
                  <a:tcPr>
                    <a:solidFill>
                      <a:srgbClr val="DEA1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3F79B02-7465-4544-AD86-A87CF868623E}"/>
              </a:ext>
            </a:extLst>
          </p:cNvPr>
          <p:cNvSpPr>
            <a:spLocks noGrp="1"/>
          </p:cNvSpPr>
          <p:nvPr/>
        </p:nvSpPr>
        <p:spPr>
          <a:xfrm>
            <a:off x="533400" y="57816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725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Доработка: отдельный упрощённый знак для аватара. Риск сходства с магазином настолок.</a:t>
            </a:r>
          </a:p>
        </p:txBody>
      </p:sp>
    </p:spTree>
    <p:extLst>
      <p:ext uri="{BB962C8B-B14F-4D97-AF65-F5344CB8AC3E}">
        <p14:creationId xmlns:p14="http://schemas.microsoft.com/office/powerpoint/2010/main" val="154309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C4FDBFA-7908-43B2-A82B-644D24A51F2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Сравнение направлений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6275085-92AF-4EA8-A63F-7A07DC23D4A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14</a:t>
            </a:r>
          </a:p>
        </p:txBody>
      </p:sp>
      <p:graphicFrame>
        <p:nvGraphicFramePr>
          <p:cNvPr id="7" name="Таблица 6"/>
          <p:cNvGraphicFramePr/>
          <p:nvPr/>
        </p:nvGraphicFramePr>
        <p:xfrm>
          <a:off x="533400" y="1524000"/>
          <a:ext cx="11125200" cy="4095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EBDD"/>
                          </a:solidFill>
                          <a:latin typeface="Rubik"/>
                          <a:ea typeface="Rubik"/>
                          <a:cs typeface="Rubik"/>
                        </a:rPr>
                        <a:t>Критерий</a:t>
                      </a:r>
                    </a:p>
                  </a:txBody>
                  <a:tcPr>
                    <a:solidFill>
                      <a:srgbClr val="2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EBDD"/>
                          </a:solidFill>
                          <a:latin typeface="Rubik"/>
                          <a:ea typeface="Rubik"/>
                          <a:cs typeface="Rubik"/>
                        </a:rPr>
                        <a:t>Гильдия</a:t>
                      </a:r>
                    </a:p>
                  </a:txBody>
                  <a:tcPr>
                    <a:solidFill>
                      <a:srgbClr val="2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EBDD"/>
                          </a:solidFill>
                          <a:latin typeface="Rubik"/>
                          <a:ea typeface="Rubik"/>
                          <a:cs typeface="Rubik"/>
                        </a:rPr>
                        <a:t>Портал</a:t>
                      </a:r>
                    </a:p>
                  </a:txBody>
                  <a:tcPr>
                    <a:solidFill>
                      <a:srgbClr val="2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EBDD"/>
                          </a:solidFill>
                          <a:latin typeface="Rubik"/>
                          <a:ea typeface="Rubik"/>
                          <a:cs typeface="Rubik"/>
                        </a:rPr>
                        <a:t>Бросок на силу</a:t>
                      </a:r>
                    </a:p>
                  </a:txBody>
                  <a:tcPr>
                    <a:solidFill>
                      <a:srgbClr val="241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Главный образ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Дружелюбная сила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Современный зал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Настольное приключение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Связь с рефами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Двойной образ,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маскот, паттерн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Чистый знак,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мощная типографика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Кубики, гриф,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фэнтези-графика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Лучший носитель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Соцсети и мерч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Вывеска и digital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Дневник и афиша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Главный риск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Избыток деталей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и спортивной агрессии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Слабо видна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ролевая игра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Слабо виден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тренажёрный зал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D156606-F0BB-45B6-B6E4-464E4C7B2659}"/>
              </a:ext>
            </a:extLst>
          </p:cNvPr>
          <p:cNvSpPr>
            <a:spLocks noGrp="1"/>
          </p:cNvSpPr>
          <p:nvPr/>
        </p:nvSpPr>
        <p:spPr>
          <a:xfrm>
            <a:off x="533400" y="5895975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180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Первое направление для обсуждения: «Гильдия». Финальный выбор зависит от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1581728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97F528A-5AD4-4027-AD1E-0F395E4D6B3C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Рекомендация: развивать «Гильдию»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B74EC95-AD6B-466B-9239-27B86706FF0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1FBC37-5E15-47E0-81F1-2E4417A51651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09537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300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Она соединяет основные пожелания</a:t>
            </a:r>
          </a:p>
          <a:p>
            <a:pPr>
              <a:defRPr sz="300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300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в одну узнаваемую систему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DB4560-8B03-4089-94BC-D1C12180CCFE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Что сохраняем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406B54-1188-4A1C-B2E1-7F260D8BFCA9}"/>
              </a:ext>
            </a:extLst>
          </p:cNvPr>
          <p:cNvSpPr>
            <a:spLocks noGrp="1"/>
          </p:cNvSpPr>
          <p:nvPr/>
        </p:nvSpPr>
        <p:spPr>
          <a:xfrm>
            <a:off x="533400" y="3752850"/>
            <a:ext cx="5048250" cy="2438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Знак с двойным смыслом.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Тёплый светлый фон и красный акцент.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Маскота как дополнительного героя бренда.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26E9847-9A70-4702-BA7A-DBFEC3E27517}"/>
              </a:ext>
            </a:extLst>
          </p:cNvPr>
          <p:cNvSpPr>
            <a:spLocks noGrp="1"/>
          </p:cNvSpPr>
          <p:nvPr/>
        </p:nvSpPr>
        <p:spPr>
          <a:xfrm>
            <a:off x="6429375" y="3067050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Что усиливаем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725949F-9128-4068-920C-804CEE0DFA76}"/>
              </a:ext>
            </a:extLst>
          </p:cNvPr>
          <p:cNvSpPr>
            <a:spLocks noGrp="1"/>
          </p:cNvSpPr>
          <p:nvPr/>
        </p:nvSpPr>
        <p:spPr>
          <a:xfrm>
            <a:off x="6429375" y="3752850"/>
            <a:ext cx="5048250" cy="2438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Убираем мелкие детали из логотипа.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Показываем людей разной подготовки.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Отводим игре отдельные рубрики, а тренировкам оставляем ясный язык.</a:t>
            </a:r>
          </a:p>
        </p:txBody>
      </p:sp>
    </p:spTree>
    <p:extLst>
      <p:ext uri="{BB962C8B-B14F-4D97-AF65-F5344CB8AC3E}">
        <p14:creationId xmlns:p14="http://schemas.microsoft.com/office/powerpoint/2010/main" val="1513576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77FDE2-D608-4318-8106-99C2B9D9492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Гильдия в пространстве студии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D03138A-A397-4264-BE38-62C71D041CD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16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66462" y="1352550"/>
            <a:ext cx="8259076" cy="4648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B2DB6A-D0B6-4DC6-BBBE-0ADC188203AE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10763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Визуализация: акцентная стена, место для игровых пауз, дневник и текстиль.</a:t>
            </a:r>
          </a:p>
        </p:txBody>
      </p:sp>
    </p:spTree>
    <p:extLst>
      <p:ext uri="{BB962C8B-B14F-4D97-AF65-F5344CB8AC3E}">
        <p14:creationId xmlns:p14="http://schemas.microsoft.com/office/powerpoint/2010/main" val="224342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054068-CC74-4CEC-ABDF-02BA0880F7F1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Контент для соцсетей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3D4FFBF-88F7-4AEF-A93E-2118C79E214F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17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4616058-DF08-4E60-86C2-3A2F0A9F3266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180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Знакомство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1F4CC9-A247-4ADA-9894-68C6C9F0CC00}"/>
              </a:ext>
            </a:extLst>
          </p:cNvPr>
          <p:cNvSpPr>
            <a:spLocks noGrp="1"/>
          </p:cNvSpPr>
          <p:nvPr/>
        </p:nvSpPr>
        <p:spPr>
          <a:xfrm>
            <a:off x="533400" y="2200275"/>
            <a:ext cx="3429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625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Твой первый квест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6E14B10-649C-4229-869D-2D40228FABE7}"/>
              </a:ext>
            </a:extLst>
          </p:cNvPr>
          <p:cNvSpPr>
            <a:spLocks noGrp="1"/>
          </p:cNvSpPr>
          <p:nvPr/>
        </p:nvSpPr>
        <p:spPr>
          <a:xfrm>
            <a:off x="533400" y="3743325"/>
            <a:ext cx="3381375" cy="2238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Тренировки с тренером и ролевая игра между подходами.</a:t>
            </a:r>
          </a:p>
          <a:p>
            <a:endParaRPr sz="187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Призыв: «Узнать, как проходит занятие».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47345C-1F31-47C4-83B4-D320BC7E2BD6}"/>
              </a:ext>
            </a:extLst>
          </p:cNvPr>
          <p:cNvSpPr>
            <a:spLocks noGrp="1"/>
          </p:cNvSpPr>
          <p:nvPr/>
        </p:nvSpPr>
        <p:spPr>
          <a:xfrm>
            <a:off x="4314825" y="149542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180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Процесс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7F1A4FB-2026-4B23-8C79-EF141A694454}"/>
              </a:ext>
            </a:extLst>
          </p:cNvPr>
          <p:cNvSpPr>
            <a:spLocks noGrp="1"/>
          </p:cNvSpPr>
          <p:nvPr/>
        </p:nvSpPr>
        <p:spPr>
          <a:xfrm>
            <a:off x="4314825" y="2200275"/>
            <a:ext cx="3429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625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Подход закончен.</a:t>
            </a:r>
          </a:p>
          <a:p>
            <a:pPr>
              <a:defRPr sz="2625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625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История продолжается.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5FAD95E-CE6E-44B3-A9B3-D676E9820611}"/>
              </a:ext>
            </a:extLst>
          </p:cNvPr>
          <p:cNvSpPr>
            <a:spLocks noGrp="1"/>
          </p:cNvSpPr>
          <p:nvPr/>
        </p:nvSpPr>
        <p:spPr>
          <a:xfrm>
            <a:off x="4314825" y="3743325"/>
            <a:ext cx="3381375" cy="2238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Короткое видео: упражнение, отдых, бросок кубика, реплика тренера.</a:t>
            </a:r>
          </a:p>
          <a:p>
            <a:endParaRPr sz="187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Один ролик объясняет формат.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E0D19A0-671A-47DB-8FFE-B22D8449A4B0}"/>
              </a:ext>
            </a:extLst>
          </p:cNvPr>
          <p:cNvSpPr>
            <a:spLocks noGrp="1"/>
          </p:cNvSpPr>
          <p:nvPr/>
        </p:nvSpPr>
        <p:spPr>
          <a:xfrm>
            <a:off x="8096250" y="149542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180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Продолжение истории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3D2938B-2794-467F-B51D-D6559B28B27D}"/>
              </a:ext>
            </a:extLst>
          </p:cNvPr>
          <p:cNvSpPr>
            <a:spLocks noGrp="1"/>
          </p:cNvSpPr>
          <p:nvPr/>
        </p:nvSpPr>
        <p:spPr>
          <a:xfrm>
            <a:off x="8096250" y="2200275"/>
            <a:ext cx="3429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625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Что ждёт твоего героя?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A18D8CD-8B2C-43D6-AE1A-F58AD2184BE8}"/>
              </a:ext>
            </a:extLst>
          </p:cNvPr>
          <p:cNvSpPr>
            <a:spLocks noGrp="1"/>
          </p:cNvSpPr>
          <p:nvPr/>
        </p:nvSpPr>
        <p:spPr>
          <a:xfrm>
            <a:off x="8096250" y="3743325"/>
            <a:ext cx="3381375" cy="2238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Анонс игровой главы и приглашение вернуться к истории.</a:t>
            </a:r>
          </a:p>
          <a:p>
            <a:endParaRPr sz="187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187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Для тех, кто уже знаком со студией.</a:t>
            </a:r>
          </a:p>
        </p:txBody>
      </p:sp>
    </p:spTree>
    <p:extLst>
      <p:ext uri="{BB962C8B-B14F-4D97-AF65-F5344CB8AC3E}">
        <p14:creationId xmlns:p14="http://schemas.microsoft.com/office/powerpoint/2010/main" val="653201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879C397-A078-4D96-A176-3CEA4D81FFB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Правила фирменной системы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E2B3A52-09FE-4A90-9AFA-DF60E1B3B8A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18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290AAC-D984-4284-B292-8A742CBE43D2}"/>
              </a:ext>
            </a:extLst>
          </p:cNvPr>
          <p:cNvSpPr>
            <a:spLocks noGrp="1"/>
          </p:cNvSpPr>
          <p:nvPr/>
        </p:nvSpPr>
        <p:spPr>
          <a:xfrm>
            <a:off x="533400" y="14763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Постоянные элементы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14433E-29C9-4BDA-AAEB-9408FAA3F841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Одна основная версия логотипа плюс вертикальная и монохромная.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На первом контакте дескриптор: «Тренировки с тренером и ролевая игра».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Единое написание Quest Fitness.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1E2D6EA-EC79-4D46-936D-B25B488947F0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Гибкие элементы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F05C38-A0C7-47E1-B762-4B7E3A64027A}"/>
              </a:ext>
            </a:extLst>
          </p:cNvPr>
          <p:cNvSpPr>
            <a:spLocks noGrp="1"/>
          </p:cNvSpPr>
          <p:nvPr/>
        </p:nvSpPr>
        <p:spPr>
          <a:xfrm>
            <a:off x="6429375" y="2162175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Фото тренировок, иллюстрация или паттерн: один главный образ на макет.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В «Гильдии» светлый фон занимает большую часть поля. Красный выделяет главное.</a:t>
            </a:r>
          </a:p>
          <a:p>
            <a:endParaRPr sz="2025" b="0">
              <a:solidFill>
                <a:srgbClr val="241C20"/>
              </a:solidFill>
              <a:latin typeface="Rubik"/>
              <a:ea typeface="Rubik"/>
              <a:cs typeface="Rubik"/>
            </a:endParaRPr>
          </a:p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Кириллица и латиница работают в одной иерархии.</a:t>
            </a:r>
          </a:p>
        </p:txBody>
      </p:sp>
    </p:spTree>
    <p:extLst>
      <p:ext uri="{BB962C8B-B14F-4D97-AF65-F5344CB8AC3E}">
        <p14:creationId xmlns:p14="http://schemas.microsoft.com/office/powerpoint/2010/main" val="23908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35BB0E-C92E-4E4E-B166-1B761DD3E09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Оформление студии без полного ремонта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2249D8-5879-434D-AFAF-507579043FC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19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6175395-BA2F-49D2-8C50-4433CFA82468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3333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Вход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1B9486-E587-480F-9E99-AFFF0E8C839B}"/>
              </a:ext>
            </a:extLst>
          </p:cNvPr>
          <p:cNvSpPr>
            <a:spLocks noGrp="1"/>
          </p:cNvSpPr>
          <p:nvPr/>
        </p:nvSpPr>
        <p:spPr>
          <a:xfrm>
            <a:off x="4191000" y="1571625"/>
            <a:ext cx="73342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Вывеска или табличка с названием и понятным описанием формата.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E25E068-1076-45A2-A730-6D2088FE34BC}"/>
              </a:ext>
            </a:extLst>
          </p:cNvPr>
          <p:cNvSpPr>
            <a:spLocks noGrp="1"/>
          </p:cNvSpPr>
          <p:nvPr/>
        </p:nvSpPr>
        <p:spPr>
          <a:xfrm>
            <a:off x="533400" y="2686050"/>
            <a:ext cx="3333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Одна акцентная зона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E3EEB8-9429-4643-8B26-A9954736DBE5}"/>
              </a:ext>
            </a:extLst>
          </p:cNvPr>
          <p:cNvSpPr>
            <a:spLocks noGrp="1"/>
          </p:cNvSpPr>
          <p:nvPr/>
        </p:nvSpPr>
        <p:spPr>
          <a:xfrm>
            <a:off x="4191000" y="2686050"/>
            <a:ext cx="73342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Знак на стене для ориентира и фотографий. Остальной фон спокойный.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14ABAF-E55F-41AA-8E74-D8A495CBD254}"/>
              </a:ext>
            </a:extLst>
          </p:cNvPr>
          <p:cNvSpPr>
            <a:spLocks noGrp="1"/>
          </p:cNvSpPr>
          <p:nvPr/>
        </p:nvSpPr>
        <p:spPr>
          <a:xfrm>
            <a:off x="533400" y="3800475"/>
            <a:ext cx="3333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Игровая пауза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B8CFCDC-EBE0-4A7C-A3EF-081E134C4120}"/>
              </a:ext>
            </a:extLst>
          </p:cNvPr>
          <p:cNvSpPr>
            <a:spLocks noGrp="1"/>
          </p:cNvSpPr>
          <p:nvPr/>
        </p:nvSpPr>
        <p:spPr>
          <a:xfrm>
            <a:off x="4191000" y="3800475"/>
            <a:ext cx="73342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Компактная полка или столик для кубиков и листа персонажа рядом с зоной отдыха.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9A898E0-36EE-4050-BA65-C46DE76CDB9D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3333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33743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B33743"/>
                </a:solidFill>
                <a:latin typeface="Rubik"/>
                <a:ea typeface="Rubik"/>
                <a:cs typeface="Rubik"/>
              </a:rPr>
              <a:t>Рабочие материалы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6BF07FF-B574-4E9D-8865-A43D1688BB48}"/>
              </a:ext>
            </a:extLst>
          </p:cNvPr>
          <p:cNvSpPr>
            <a:spLocks noGrp="1"/>
          </p:cNvSpPr>
          <p:nvPr/>
        </p:nvSpPr>
        <p:spPr>
          <a:xfrm>
            <a:off x="4191000" y="4914900"/>
            <a:ext cx="73342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2025" b="0">
                <a:solidFill>
                  <a:srgbClr val="241C20"/>
                </a:solidFill>
                <a:latin typeface="Rubik"/>
                <a:ea typeface="Rubik"/>
                <a:cs typeface="Rubik"/>
              </a:rPr>
              <a:t>Дневник тренировок, форма тренера, навигация и место для личных вещей.</a:t>
            </a:r>
          </a:p>
        </p:txBody>
      </p:sp>
    </p:spTree>
    <p:extLst>
      <p:ext uri="{BB962C8B-B14F-4D97-AF65-F5344CB8AC3E}">
        <p14:creationId xmlns:p14="http://schemas.microsoft.com/office/powerpoint/2010/main" val="146599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22B5627-0779-41B2-9DEF-700DA0A8D9FE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41C20"/>
                </a:solidFill>
                <a:latin typeface="Rubik"/>
                <a:ea typeface="Rubik"/>
                <a:cs typeface="Rubik"/>
              </a:defRPr>
            </a:pPr>
            <a:r>
              <a:rPr sz="3300" b="1">
                <a:solidFill>
                  <a:srgbClr val="241C20"/>
                </a:solidFill>
                <a:latin typeface="Rubik"/>
                <a:ea typeface="Rubik"/>
                <a:cs typeface="Rubik"/>
              </a:rPr>
              <a:t>Порядок внедрения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66561E-C9A3-43B8-9C44-7162970576C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E5D60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6E5D60"/>
                </a:solidFill>
                <a:latin typeface="Rubik"/>
                <a:ea typeface="Rubik"/>
                <a:cs typeface="Rubik"/>
              </a:rPr>
              <a:t>20</a:t>
            </a:r>
          </a:p>
        </p:txBody>
      </p:sp>
      <p:graphicFrame>
        <p:nvGraphicFramePr>
          <p:cNvPr id="6" name="Таблица 5"/>
          <p:cNvGraphicFramePr/>
          <p:nvPr/>
        </p:nvGraphicFramePr>
        <p:xfrm>
          <a:off x="533400" y="1495425"/>
          <a:ext cx="11125200" cy="43338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EBDD"/>
                          </a:solidFill>
                          <a:latin typeface="Rubik"/>
                          <a:ea typeface="Rubik"/>
                          <a:cs typeface="Rubik"/>
                        </a:rPr>
                        <a:t>Этап</a:t>
                      </a:r>
                    </a:p>
                  </a:txBody>
                  <a:tcPr>
                    <a:solidFill>
                      <a:srgbClr val="2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EBDD"/>
                          </a:solidFill>
                          <a:latin typeface="Rubik"/>
                          <a:ea typeface="Rubik"/>
                          <a:cs typeface="Rubik"/>
                        </a:rPr>
                        <a:t>Результат</a:t>
                      </a:r>
                    </a:p>
                  </a:txBody>
                  <a:tcPr>
                    <a:solidFill>
                      <a:srgbClr val="241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1. Основа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Выбор направления, уточнение позиционирования,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финальный векторный логотип и мини-гайд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2. Первый контакт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Аватар, обложки, карточки на картах,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главный экран сайта при его наличии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3. Повседневный контент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Шаблоны постов и историй, анонс занятия,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представление тренера, понятное описание формата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4. Студия и печать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Вывеска, навигация, дневник, форма тренера.</a:t>
                      </a:r>
                    </a:p>
                    <a:p>
                      <a:r>
                        <a:rPr sz="1725" b="0">
                          <a:solidFill>
                            <a:srgbClr val="241C20"/>
                          </a:solidFill>
                          <a:latin typeface="Rubik"/>
                          <a:ea typeface="Rubik"/>
                          <a:cs typeface="Rubik"/>
                        </a:rPr>
                        <a:t>Мерч и крупные интерьерные работы по отдельному решению</a:t>
                      </a:r>
                    </a:p>
                  </a:txBody>
                  <a:tcPr>
                    <a:solidFill>
                      <a:srgbClr val="F6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9286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1329</Words>
  <Application>Microsoft Macintosh PowerPoint</Application>
  <DocSecurity>0</DocSecurity>
  <PresentationFormat>Широкоэкранный</PresentationFormat>
  <Paragraphs>219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Calibri</vt:lpstr>
      <vt:lpstr>Rubik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Anastasia Matushechko</cp:lastModifiedBy>
  <cp:revision>1</cp:revision>
  <dcterms:created xsi:type="dcterms:W3CDTF">2026-09-24T10:55:13Z</dcterms:created>
  <dcterms:modified xsi:type="dcterms:W3CDTF">2026-09-24T11:01:00Z</dcterms:modified>
</cp:coreProperties>
</file>